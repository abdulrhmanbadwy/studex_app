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16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8B9BB4"/>
                </a:solidFill>
                <a:latin typeface="Arial"/>
              </a:defRPr>
            </a:pPr>
            <a:r>
              <a:rPr lang="ar-EG" sz="1200" b="0" i="0" u="none" strike="noStrike">
                <a:solidFill>
                  <a:srgbClr val="8B9BB4"/>
                </a:solidFill>
                <a:latin typeface="Arial"/>
              </a:rPr>
              <a:t>تطور الأداء الأسبوعي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درجاتك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أسبوع ١</c:v>
                </c:pt>
                <c:pt idx="1">
                  <c:v>أسبوع ٢</c:v>
                </c:pt>
                <c:pt idx="2">
                  <c:v>أسبوع ٣</c:v>
                </c:pt>
                <c:pt idx="3">
                  <c:v>أسبوع ٤</c:v>
                </c:pt>
                <c:pt idx="4">
                  <c:v>أسبوع ٥</c:v>
                </c:pt>
                <c:pt idx="5">
                  <c:v>أسبوع ٦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</c:v>
                </c:pt>
                <c:pt idx="1">
                  <c:v>70</c:v>
                </c:pt>
                <c:pt idx="2">
                  <c:v>78</c:v>
                </c:pt>
                <c:pt idx="3">
                  <c:v>82</c:v>
                </c:pt>
                <c:pt idx="4">
                  <c:v>80</c:v>
                </c:pt>
                <c:pt idx="5">
                  <c:v>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244-4B20-85F4-3FC0F5F2384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BB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A2E4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BB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1B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5385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731520"/>
            <a:ext cx="3200400" cy="3200400"/>
          </a:xfrm>
          <a:prstGeom prst="ellipse">
            <a:avLst/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2926080"/>
            <a:ext cx="2743200" cy="2743200"/>
          </a:xfrm>
          <a:prstGeom prst="ellipse">
            <a:avLst/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1B4F72">
              <a:alpha val="30000"/>
            </a:srgbClr>
          </a:solidFill>
          <a:ln w="12700">
            <a:solidFill>
              <a:srgbClr val="1B4F7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474720" y="2834640"/>
            <a:ext cx="2194560" cy="73152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0972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Studex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dirty="0">
                <a:solidFill>
                  <a:srgbClr val="FFD5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مساحتك للمذاكرة، بلا تشتيت.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3429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5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حاجة عن مذاكرتك، في مكان واحد.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4160520"/>
            <a:ext cx="2651760" cy="411480"/>
          </a:xfrm>
          <a:prstGeom prst="roundRect">
            <a:avLst>
              <a:gd name="adj" fmla="val 22222"/>
            </a:avLst>
          </a:prstGeom>
          <a:solidFill>
            <a:srgbClr val="1B4F72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46120" y="4160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D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 ·  Firebase  ·  Clean Architecture</a:t>
            </a:r>
            <a:endParaRPr lang="en-US" sz="1000" dirty="0"/>
          </a:p>
        </p:txBody>
      </p:sp>
    </p:spTree>
  </p:cSld>
  <p:clrMapOvr>
    <a:masterClrMapping/>
  </p:clrMapOvr>
  <p:transition spd="slow">
    <p:randomBar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57200"/>
            <a:ext cx="4572000" cy="4206240"/>
          </a:xfrm>
          <a:prstGeom prst="roundRect">
            <a:avLst>
              <a:gd name="adj" fmla="val 4348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0" y="822960"/>
            <a:ext cx="2011680" cy="3474720"/>
          </a:xfrm>
          <a:prstGeom prst="roundRect">
            <a:avLst>
              <a:gd name="adj" fmla="val 8182"/>
            </a:avLst>
          </a:prstGeom>
          <a:solidFill>
            <a:srgbClr val="1C2F45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103120" y="86868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8B9BB4"/>
          </a:solidFill>
          <a:ln w="12700">
            <a:solidFill>
              <a:srgbClr val="8B9B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1828800" cy="347472"/>
          </a:xfrm>
          <a:prstGeom prst="roundRect">
            <a:avLst>
              <a:gd name="adj" fmla="val 31579"/>
            </a:avLst>
          </a:prstGeom>
          <a:solidFill>
            <a:srgbClr val="E74C3C">
              <a:alpha val="80000"/>
            </a:srgbClr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شاهد هذا الريلز! 🎬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0" y="1371600"/>
            <a:ext cx="2011680" cy="347472"/>
          </a:xfrm>
          <a:prstGeom prst="roundRect">
            <a:avLst>
              <a:gd name="adj" fmla="val 31579"/>
            </a:avLst>
          </a:prstGeom>
          <a:solidFill>
            <a:srgbClr val="E74C3C">
              <a:alpha val="80000"/>
            </a:srgbClr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371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صديقك أضاف منشور 📱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1737360" cy="347472"/>
          </a:xfrm>
          <a:prstGeom prst="roundRect">
            <a:avLst>
              <a:gd name="adj" fmla="val 31579"/>
            </a:avLst>
          </a:prstGeom>
          <a:solidFill>
            <a:srgbClr val="E74C3C">
              <a:alpha val="80000"/>
            </a:srgbClr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إعلان جديد لك! 🛍️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2651760"/>
            <a:ext cx="1645920" cy="347472"/>
          </a:xfrm>
          <a:prstGeom prst="roundRect">
            <a:avLst>
              <a:gd name="adj" fmla="val 31579"/>
            </a:avLst>
          </a:prstGeom>
          <a:solidFill>
            <a:srgbClr val="E74C3C">
              <a:alpha val="80000"/>
            </a:srgbClr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91840" y="26517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تحديث الأخبار 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3291840"/>
            <a:ext cx="1737360" cy="347472"/>
          </a:xfrm>
          <a:prstGeom prst="roundRect">
            <a:avLst>
              <a:gd name="adj" fmla="val 31579"/>
            </a:avLst>
          </a:prstGeom>
          <a:solidFill>
            <a:srgbClr val="E74C3C">
              <a:alpha val="80000"/>
            </a:srgbClr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291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لايك على صورتك ❤️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212080" y="457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FD5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تعرف هذا الموقف؟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212080" y="12344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تفتح موبايلك بنية المذاكرة،</a:t>
            </a:r>
            <a:endParaRPr lang="en-US" sz="1600" dirty="0"/>
          </a:p>
          <a:p>
            <a:pPr marL="0" indent="0" algn="r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تدخل مجموعة المادة على فيسبوك...</a:t>
            </a:r>
            <a:endParaRPr lang="en-US" sz="1600" dirty="0"/>
          </a:p>
          <a:p>
            <a:pPr marL="0" indent="0" algn="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وبعد ٢٠ دقيقة: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12080" y="2743200"/>
            <a:ext cx="3657600" cy="822960"/>
          </a:xfrm>
          <a:prstGeom prst="roundRect">
            <a:avLst>
              <a:gd name="adj" fmla="val 16667"/>
            </a:avLst>
          </a:prstGeom>
          <a:solidFill>
            <a:srgbClr val="E74C3C">
              <a:alpha val="15000"/>
            </a:srgbClr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212080" y="27432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وسط ريلز وبوستات وإعلانات!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12080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 مش فيك — المنصة مش مصممة للمذاكرة.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ثمن التشتيت الحقيقي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2743200" cy="3474720"/>
          </a:xfrm>
          <a:prstGeom prst="roundRect">
            <a:avLst>
              <a:gd name="adj" fmla="val 6667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417320" y="1280160"/>
            <a:ext cx="640080" cy="640080"/>
          </a:xfrm>
          <a:prstGeom prst="ellipse">
            <a:avLst/>
          </a:prstGeom>
          <a:solidFill>
            <a:srgbClr val="E74C3C">
              <a:alpha val="80000"/>
            </a:srgbClr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1344168"/>
            <a:ext cx="512064" cy="5120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2057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تشتت الانتباه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2920" y="265176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المنصات الاجتماعية مصممة لسرقة تركيزك.</a:t>
            </a:r>
            <a:endParaRPr lang="en-US" sz="1200" dirty="0"/>
          </a:p>
          <a:p>
            <a:pPr marL="0" indent="0" algn="ctr" rtl="1">
              <a:buNone/>
            </a:pPr>
            <a:r>
              <a:rPr lang="en-US" sz="12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إشعار = انقطاع يحتاج ١٥ دقيقة للتعافي.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1097280"/>
            <a:ext cx="2743200" cy="3474720"/>
          </a:xfrm>
          <a:prstGeom prst="roundRect">
            <a:avLst>
              <a:gd name="adj" fmla="val 6667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343400" y="1280160"/>
            <a:ext cx="640080" cy="640080"/>
          </a:xfrm>
          <a:prstGeom prst="ellipse">
            <a:avLst/>
          </a:prstGeom>
          <a:solidFill>
            <a:srgbClr val="F5A623">
              <a:alpha val="80000"/>
            </a:srgbClr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408" y="1344168"/>
            <a:ext cx="512064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29000" y="2057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ضياع وقت المذاكرة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429000" y="265176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الوقت الضائع بين الدخول للمجموعة والبدء الفعلي</a:t>
            </a:r>
            <a:endParaRPr lang="en-US" sz="1200" dirty="0"/>
          </a:p>
          <a:p>
            <a:pPr marL="0" indent="0" algn="ctr" rtl="1">
              <a:buNone/>
            </a:pPr>
            <a:r>
              <a:rPr lang="en-US" sz="12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المذاكرة قد يصل لنصف وقت الجلسة!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17920" y="1097280"/>
            <a:ext cx="2743200" cy="3474720"/>
          </a:xfrm>
          <a:prstGeom prst="roundRect">
            <a:avLst>
              <a:gd name="adj" fmla="val 6667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7269480" y="1280160"/>
            <a:ext cx="640080" cy="640080"/>
          </a:xfrm>
          <a:prstGeom prst="ellipse">
            <a:avLst/>
          </a:prstGeom>
          <a:solidFill>
            <a:srgbClr val="3498DB">
              <a:alpha val="80000"/>
            </a:srgbClr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3488" y="1344168"/>
            <a:ext cx="512064" cy="5120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55080" y="2057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غياب المتابعة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355080" y="265176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تتبع لأدائك، لا اختبارات منظمة،</a:t>
            </a:r>
            <a:endParaRPr lang="en-US" sz="1200" dirty="0"/>
          </a:p>
          <a:p>
            <a:pPr marL="0" indent="0" algn="ctr" rtl="1">
              <a:buNone/>
            </a:pPr>
            <a:r>
              <a:rPr lang="en-US" sz="12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شيء يقيس تقدمك الحقيقي في المادة.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274320"/>
            <a:ext cx="2743200" cy="27432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566160" y="640080"/>
            <a:ext cx="2011680" cy="2011680"/>
          </a:xfrm>
          <a:prstGeom prst="ellipse">
            <a:avLst/>
          </a:prstGeom>
          <a:solidFill>
            <a:srgbClr val="F5A623">
              <a:alpha val="28000"/>
            </a:srgbClr>
          </a:solidFill>
          <a:ln w="12700">
            <a:solidFill>
              <a:srgbClr val="F5A623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9144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3108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لحظة...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ليه ما نعمل مساحة مخصصة للدراسة فقط؟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2560320" y="4663440"/>
            <a:ext cx="4023360" cy="73152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82880" y="109728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Studex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914400" y="251460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2743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D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+ Index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33375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مساحة واحدة تجمع وتُفهرس</a:t>
            </a:r>
            <a:endParaRPr lang="en-US" sz="1400" dirty="0"/>
          </a:p>
          <a:p>
            <a:pPr marL="0" indent="0" algn="ctr" rtl="1">
              <a:buNone/>
            </a:pPr>
            <a:r>
              <a:rPr lang="en-US" sz="14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حياتك الدراسية.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54880" y="4572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FD5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هو Studex؟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663440" y="1234440"/>
            <a:ext cx="4114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بيئة رقمية مستقلة،
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مخصصة ١٠٠٪ للدراسة الجامعية،
بدون أي عنصر تشتيت.
</a:t>
            </a:r>
            <a:r>
              <a:rPr lang="en-US" sz="15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توفر للطالب كل ما كان يبحث عنه في مجموعات السوشيال ميديا — لكن بشكل منظم، مُتابَع، وخالٍ من المحتوى الجانبي.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4526280"/>
            <a:ext cx="960120" cy="347472"/>
          </a:xfrm>
          <a:prstGeom prst="roundRect">
            <a:avLst>
              <a:gd name="adj" fmla="val 26316"/>
            </a:avLst>
          </a:prstGeom>
          <a:solidFill>
            <a:srgbClr val="1B4F72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63440" y="452628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D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15000" y="4526280"/>
            <a:ext cx="960120" cy="347472"/>
          </a:xfrm>
          <a:prstGeom prst="roundRect">
            <a:avLst>
              <a:gd name="adj" fmla="val 26316"/>
            </a:avLst>
          </a:prstGeom>
          <a:solidFill>
            <a:srgbClr val="1B4F72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715000" y="452628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D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66560" y="4526280"/>
            <a:ext cx="960120" cy="347472"/>
          </a:xfrm>
          <a:prstGeom prst="roundRect">
            <a:avLst>
              <a:gd name="adj" fmla="val 26316"/>
            </a:avLst>
          </a:prstGeom>
          <a:solidFill>
            <a:srgbClr val="1B4F72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6560" y="452628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D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Bloc/Cubit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818120" y="4526280"/>
            <a:ext cx="960120" cy="347472"/>
          </a:xfrm>
          <a:prstGeom prst="roundRect">
            <a:avLst>
              <a:gd name="adj" fmla="val 26316"/>
            </a:avLst>
          </a:prstGeom>
          <a:solidFill>
            <a:srgbClr val="1B4F72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818120" y="452628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D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الأعمدة الأربعة لـ Studex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691640"/>
          </a:xfrm>
          <a:prstGeom prst="roundRect">
            <a:avLst>
              <a:gd name="adj" fmla="val 10811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527048"/>
            <a:ext cx="640080" cy="640080"/>
          </a:xfrm>
          <a:prstGeom prst="ellipse">
            <a:avLst/>
          </a:prstGeom>
          <a:solidFill>
            <a:srgbClr val="3498DB">
              <a:alpha val="75000"/>
            </a:srgbClr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591056"/>
            <a:ext cx="512064" cy="5120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325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غرف دراسية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25880" y="18470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مساحة مخصصة لكل مادة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114800" cy="1691640"/>
          </a:xfrm>
          <a:prstGeom prst="roundRect">
            <a:avLst>
              <a:gd name="adj" fmla="val 10811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846320" y="1527048"/>
            <a:ext cx="640080" cy="640080"/>
          </a:xfrm>
          <a:prstGeom prst="ellipse">
            <a:avLst/>
          </a:prstGeom>
          <a:solidFill>
            <a:srgbClr val="1ABC9C">
              <a:alpha val="75000"/>
            </a:srgbClr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1591056"/>
            <a:ext cx="512064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23560" y="1325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شات داخل الغرف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623560" y="18470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تواصل في سياق دراسي بحت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65760" y="2926080"/>
            <a:ext cx="4114800" cy="1691640"/>
          </a:xfrm>
          <a:prstGeom prst="roundRect">
            <a:avLst>
              <a:gd name="adj" fmla="val 10811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548640" y="3447288"/>
            <a:ext cx="640080" cy="640080"/>
          </a:xfrm>
          <a:prstGeom prst="ellipse">
            <a:avLst/>
          </a:prstGeom>
          <a:solidFill>
            <a:srgbClr val="F5A623">
              <a:alpha val="75000"/>
            </a:srgbClr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511296"/>
            <a:ext cx="512064" cy="5120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2588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نظام اختبارات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1325880" y="37673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إنشاء، أداء، تصحيح فوري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63440" y="2926080"/>
            <a:ext cx="4114800" cy="1691640"/>
          </a:xfrm>
          <a:prstGeom prst="roundRect">
            <a:avLst>
              <a:gd name="adj" fmla="val 10811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4846320" y="3447288"/>
            <a:ext cx="640080" cy="640080"/>
          </a:xfrm>
          <a:prstGeom prst="ellipse">
            <a:avLst/>
          </a:prstGeom>
          <a:solidFill>
            <a:srgbClr val="9B59B6">
              <a:alpha val="75000"/>
            </a:srgbClr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3511296"/>
            <a:ext cx="512064" cy="51206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62356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متابعة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5623560" y="376732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أداء واضح وترتيب صدارة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4023360" cy="4572000"/>
          </a:xfrm>
          <a:prstGeom prst="roundRect">
            <a:avLst>
              <a:gd name="adj" fmla="val 4545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20" y="50292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234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غرف دراسية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3474720" cy="502920"/>
          </a:xfrm>
          <a:prstGeom prst="roundRect">
            <a:avLst>
              <a:gd name="adj" fmla="val 21818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1524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مادة الرياضيات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3474720" cy="502920"/>
          </a:xfrm>
          <a:prstGeom prst="roundRect">
            <a:avLst>
              <a:gd name="adj" fmla="val 21818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48640" y="2468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1524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⚗️ مادة الكيمياء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3108960"/>
            <a:ext cx="3474720" cy="502920"/>
          </a:xfrm>
          <a:prstGeom prst="roundRect">
            <a:avLst>
              <a:gd name="adj" fmla="val 21818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48640" y="31089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1524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البرمجة المتقدمة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3749040"/>
            <a:ext cx="3474720" cy="502920"/>
          </a:xfrm>
          <a:prstGeom prst="roundRect">
            <a:avLst>
              <a:gd name="adj" fmla="val 21818"/>
            </a:avLst>
          </a:prstGeom>
          <a:solidFill>
            <a:srgbClr val="1B4F72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48640" y="3749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1524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FD5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إنشاء غرفة جديدة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0" y="274320"/>
            <a:ext cx="4297680" cy="4572000"/>
          </a:xfrm>
          <a:prstGeom prst="roundRect">
            <a:avLst>
              <a:gd name="adj" fmla="val 4255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502920"/>
            <a:ext cx="640080" cy="6400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63440" y="12344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شات داخل الغرفة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6400800" y="1828800"/>
            <a:ext cx="2286000" cy="475488"/>
          </a:xfrm>
          <a:prstGeom prst="roundRect">
            <a:avLst>
              <a:gd name="adj" fmla="val 23077"/>
            </a:avLst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400800" y="1828800"/>
            <a:ext cx="2286000" cy="475488"/>
          </a:xfrm>
          <a:prstGeom prst="rect">
            <a:avLst/>
          </a:prstGeom>
          <a:noFill/>
          <a:ln/>
        </p:spPr>
        <p:txBody>
          <a:bodyPr wrap="square" lIns="0" tIns="1016" rIns="1016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حد فاهم مسألة ٣؟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754880" y="2450592"/>
            <a:ext cx="2286000" cy="475488"/>
          </a:xfrm>
          <a:prstGeom prst="roundRect">
            <a:avLst>
              <a:gd name="adj" fmla="val 23077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4754880" y="2450592"/>
            <a:ext cx="2286000" cy="475488"/>
          </a:xfrm>
          <a:prstGeom prst="rect">
            <a:avLst/>
          </a:prstGeom>
          <a:noFill/>
          <a:ln/>
        </p:spPr>
        <p:txBody>
          <a:bodyPr wrap="square" lIns="0" tIns="1016" rIns="1016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أيوه أنا، هشرحها 🙋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00800" y="3072384"/>
            <a:ext cx="2286000" cy="475488"/>
          </a:xfrm>
          <a:prstGeom prst="roundRect">
            <a:avLst>
              <a:gd name="adj" fmla="val 23077"/>
            </a:avLst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400800" y="3072384"/>
            <a:ext cx="2286000" cy="475488"/>
          </a:xfrm>
          <a:prstGeom prst="rect">
            <a:avLst/>
          </a:prstGeom>
          <a:noFill/>
          <a:ln/>
        </p:spPr>
        <p:txBody>
          <a:bodyPr wrap="square" lIns="0" tIns="1016" rIns="1016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ممكن تشارك الشرح هنا؟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4754880" y="3694176"/>
            <a:ext cx="2286000" cy="475488"/>
          </a:xfrm>
          <a:prstGeom prst="roundRect">
            <a:avLst>
              <a:gd name="adj" fmla="val 23077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4754880" y="36941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1016" rIns="1016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بالتأكيد، الحل هو...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663440" y="4526280"/>
            <a:ext cx="3566160" cy="384048"/>
          </a:xfrm>
          <a:prstGeom prst="roundRect">
            <a:avLst>
              <a:gd name="adj" fmla="val 28571"/>
            </a:avLst>
          </a:prstGeom>
          <a:solidFill>
            <a:srgbClr val="1A2E46"/>
          </a:solidFill>
          <a:ln w="12700">
            <a:solidFill>
              <a:srgbClr val="8B9B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4709160" y="45262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127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اكتب رسالتك...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7863840" y="4590288"/>
            <a:ext cx="274320" cy="274320"/>
          </a:xfrm>
          <a:prstGeom prst="ellipse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الاختبارات ولوحة الصدارة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148840" y="1417320"/>
            <a:ext cx="4572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1828800" cy="1554480"/>
          </a:xfrm>
          <a:prstGeom prst="roundRect">
            <a:avLst>
              <a:gd name="adj" fmla="val 10588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987552"/>
            <a:ext cx="640080" cy="6400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9875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إنشاء الاختبار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عنوان + وصف + عدد الأسئلة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4572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828800" cy="1554480"/>
          </a:xfrm>
          <a:prstGeom prst="roundRect">
            <a:avLst>
              <a:gd name="adj" fmla="val 10588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154680" y="987552"/>
            <a:ext cx="640080" cy="6400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154680" y="9875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06040" y="16916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إضافة الأسئلة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06040" y="2103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خيارات متعددة + الإجابة الصحيحة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29400" y="1417320"/>
            <a:ext cx="4572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00600" y="914400"/>
            <a:ext cx="1828800" cy="1554480"/>
          </a:xfrm>
          <a:prstGeom prst="roundRect">
            <a:avLst>
              <a:gd name="adj" fmla="val 10588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394960" y="987552"/>
            <a:ext cx="640080" cy="6400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394960" y="9875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846320" y="16916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أداء الاختبار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2103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واجهة سهلة واضحة للطالب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040880" y="914400"/>
            <a:ext cx="1828800" cy="1554480"/>
          </a:xfrm>
          <a:prstGeom prst="roundRect">
            <a:avLst>
              <a:gd name="adj" fmla="val 10588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635240" y="987552"/>
            <a:ext cx="640080" cy="6400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635240" y="9875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٤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86600" y="16916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 الفورية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86600" y="2103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الدرجة + مراجعة الإجابات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2743200"/>
            <a:ext cx="8503920" cy="2148840"/>
          </a:xfrm>
          <a:prstGeom prst="roundRect">
            <a:avLst>
              <a:gd name="adj" fmla="val 8511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34640"/>
            <a:ext cx="502920" cy="50292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457200" y="278892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FD5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الصدارة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02920" y="3364992"/>
            <a:ext cx="8229600" cy="384048"/>
          </a:xfrm>
          <a:prstGeom prst="roundRect">
            <a:avLst>
              <a:gd name="adj" fmla="val 23810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492240" y="33649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127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🥇  أحمد محمد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40080" y="3493008"/>
            <a:ext cx="914400" cy="128016"/>
          </a:xfrm>
          <a:prstGeom prst="roundRect">
            <a:avLst>
              <a:gd name="adj" fmla="val 42857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0" y="33649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٩٢٪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3822192"/>
            <a:ext cx="8229600" cy="384048"/>
          </a:xfrm>
          <a:prstGeom prst="roundRect">
            <a:avLst>
              <a:gd name="adj" fmla="val 23810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4922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127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🥈  سارة إبراهيم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40080" y="3950208"/>
            <a:ext cx="914400" cy="128016"/>
          </a:xfrm>
          <a:prstGeom prst="roundRect">
            <a:avLst>
              <a:gd name="adj" fmla="val 42857"/>
            </a:avLst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0" y="38221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٨٧٪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02920" y="4279392"/>
            <a:ext cx="8229600" cy="384048"/>
          </a:xfrm>
          <a:prstGeom prst="roundRect">
            <a:avLst>
              <a:gd name="adj" fmla="val 23810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6492240" y="42793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127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🥉  محمود علي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40080" y="4407408"/>
            <a:ext cx="914400" cy="128016"/>
          </a:xfrm>
          <a:prstGeom prst="roundRect">
            <a:avLst>
              <a:gd name="adj" fmla="val 42857"/>
            </a:avLst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0" y="42793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D7F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٨٣٪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المتابعة الشخصية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868680"/>
            <a:ext cx="2560320" cy="1371600"/>
          </a:xfrm>
          <a:prstGeom prst="roundRect">
            <a:avLst>
              <a:gd name="adj" fmla="val 12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٢٤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2004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 أُديت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0" y="868680"/>
            <a:ext cx="2560320" cy="1371600"/>
          </a:xfrm>
          <a:prstGeom prst="roundRect">
            <a:avLst>
              <a:gd name="adj" fmla="val 12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0" y="9601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٨٥٪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20040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درجاتك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80760" y="868680"/>
            <a:ext cx="2560320" cy="1371600"/>
          </a:xfrm>
          <a:prstGeom prst="roundRect">
            <a:avLst>
              <a:gd name="adj" fmla="val 12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80760" y="9601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٦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08076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غرف نشطة</a:t>
            </a:r>
            <a:endParaRPr lang="en-US" sz="1300" dirty="0"/>
          </a:p>
        </p:txBody>
      </p:sp>
      <p:graphicFrame>
        <p:nvGraphicFramePr>
          <p:cNvPr id="12" name="Chart 0"/>
          <p:cNvGraphicFramePr/>
          <p:nvPr/>
        </p:nvGraphicFramePr>
        <p:xfrm>
          <a:off x="320040" y="2423160"/>
          <a:ext cx="530352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Shape 10"/>
          <p:cNvSpPr/>
          <p:nvPr/>
        </p:nvSpPr>
        <p:spPr>
          <a:xfrm>
            <a:off x="5852160" y="2423160"/>
            <a:ext cx="3017520" cy="246888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0" y="25146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D5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 الأخير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943600" y="30175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اختبار رياضيات — ٨٨٪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943600" y="345643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انضممت لغرفة الكيمياء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943600" y="389534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أجبت على سؤالين في الشات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943600" y="433425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اختبار برمجة — ٩٢٪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الأساس التقني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i="1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مبني باحترافية هندسية — مش مجرد نموذج سطحي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2743200" cy="1508760"/>
          </a:xfrm>
          <a:prstGeom prst="roundRect">
            <a:avLst>
              <a:gd name="adj" fmla="val 10909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594360" cy="594360"/>
          </a:xfrm>
          <a:prstGeom prst="ellipse">
            <a:avLst/>
          </a:prstGeom>
          <a:solidFill>
            <a:srgbClr val="3498DB">
              <a:alpha val="75000"/>
            </a:srgbClr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819656"/>
            <a:ext cx="466344" cy="466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55448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80160" y="20391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واجهة موبايل متعددة المنصات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91840" y="1325880"/>
            <a:ext cx="2743200" cy="1508760"/>
          </a:xfrm>
          <a:prstGeom prst="roundRect">
            <a:avLst>
              <a:gd name="adj" fmla="val 10909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474720" y="1755648"/>
            <a:ext cx="594360" cy="594360"/>
          </a:xfrm>
          <a:prstGeom prst="ellipse">
            <a:avLst/>
          </a:prstGeom>
          <a:solidFill>
            <a:srgbClr val="E74C3C">
              <a:alpha val="75000"/>
            </a:srgbClr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819656"/>
            <a:ext cx="466344" cy="4663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06240" y="155448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Suite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206240" y="20391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+ Firestore + Storage + FCM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17920" y="1325880"/>
            <a:ext cx="2743200" cy="1508760"/>
          </a:xfrm>
          <a:prstGeom prst="roundRect">
            <a:avLst>
              <a:gd name="adj" fmla="val 10909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400800" y="1755648"/>
            <a:ext cx="594360" cy="594360"/>
          </a:xfrm>
          <a:prstGeom prst="ellipse">
            <a:avLst/>
          </a:prstGeom>
          <a:solidFill>
            <a:srgbClr val="1ABC9C">
              <a:alpha val="75000"/>
            </a:srgbClr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1819656"/>
            <a:ext cx="466344" cy="4663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32320" y="155448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7132320" y="20391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/ Domain / Presentation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65760" y="3017520"/>
            <a:ext cx="2743200" cy="1508760"/>
          </a:xfrm>
          <a:prstGeom prst="roundRect">
            <a:avLst>
              <a:gd name="adj" fmla="val 10909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548640" y="3447288"/>
            <a:ext cx="594360" cy="594360"/>
          </a:xfrm>
          <a:prstGeom prst="ellipse">
            <a:avLst/>
          </a:prstGeom>
          <a:solidFill>
            <a:srgbClr val="F5A623">
              <a:alpha val="75000"/>
            </a:srgbClr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" y="3511296"/>
            <a:ext cx="466344" cy="4663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32461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/ Cubit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280160" y="373075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إدارة الحالة بطريقة منظمة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291840" y="3017520"/>
            <a:ext cx="2743200" cy="1508760"/>
          </a:xfrm>
          <a:prstGeom prst="roundRect">
            <a:avLst>
              <a:gd name="adj" fmla="val 10909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3474720" y="3447288"/>
            <a:ext cx="594360" cy="594360"/>
          </a:xfrm>
          <a:prstGeom prst="ellipse">
            <a:avLst/>
          </a:prstGeom>
          <a:solidFill>
            <a:srgbClr val="9B59B6">
              <a:alpha val="75000"/>
            </a:srgbClr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38728" y="3511296"/>
            <a:ext cx="466344" cy="4663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206240" y="32461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206240" y="373075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Rules + أدوار مستخدمين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217920" y="3017520"/>
            <a:ext cx="2743200" cy="1508760"/>
          </a:xfrm>
          <a:prstGeom prst="roundRect">
            <a:avLst>
              <a:gd name="adj" fmla="val 10909"/>
            </a:avLst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6400800" y="3447288"/>
            <a:ext cx="594360" cy="594360"/>
          </a:xfrm>
          <a:prstGeom prst="ellipse">
            <a:avLst/>
          </a:prstGeom>
          <a:solidFill>
            <a:srgbClr val="27AE60">
              <a:alpha val="75000"/>
            </a:srgbClr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4808" y="3511296"/>
            <a:ext cx="466344" cy="46634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32320" y="32461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نظام أدوار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132320" y="373075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طالب · معلم · أدمن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تم إنجازه فعليًا ✓</a:t>
            </a:r>
            <a:endParaRPr lang="en-US" sz="3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6012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8915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ربط Firebase كامل (Auth, Firestore, Storage, FCM)</a:t>
            </a:r>
            <a:endParaRPr lang="en-US" sz="12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536192"/>
            <a:ext cx="320040" cy="320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144680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بنية مشروع Feature-based Architecture</a:t>
            </a:r>
            <a:endParaRPr lang="en-US" sz="1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112264"/>
            <a:ext cx="320040" cy="3200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40080" y="20436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نظام Dependency Injection مركزي</a:t>
            </a:r>
            <a:endParaRPr lang="en-US" sz="12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688336"/>
            <a:ext cx="320040" cy="32004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40080" y="26426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نظام أدوار: طالب / معلم / أدمن</a:t>
            </a:r>
            <a:endParaRPr lang="en-US" sz="12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26440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40080" y="32186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قواعد أمان Firestore مختبَرة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840480"/>
            <a:ext cx="320040" cy="32004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40080" y="37326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تسجيل دخول / تسجيل / استرجاع كلمة المرور</a:t>
            </a:r>
            <a:endParaRPr lang="en-US" sz="12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416552"/>
            <a:ext cx="320040" cy="32004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685800" y="43479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شاشات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تعريفية٣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شاشات</a:t>
            </a:r>
            <a:endParaRPr lang="en-US" sz="120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960120"/>
            <a:ext cx="320040" cy="320040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5029200" y="914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تسجيل دخول تلقائي (Auto-login)</a:t>
            </a:r>
            <a:endParaRPr lang="en-US" sz="120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536192"/>
            <a:ext cx="320040" cy="320040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5029200" y="14904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إنشاء/عرض/انضمام للغرف الدراسية</a:t>
            </a:r>
            <a:endParaRPr lang="en-US" sz="120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12264"/>
            <a:ext cx="320040" cy="320040"/>
          </a:xfrm>
          <a:prstGeom prst="rect">
            <a:avLst/>
          </a:prstGeom>
        </p:spPr>
      </p:pic>
      <p:sp>
        <p:nvSpPr>
          <p:cNvPr id="22" name="Text 10"/>
          <p:cNvSpPr/>
          <p:nvPr/>
        </p:nvSpPr>
        <p:spPr>
          <a:xfrm>
            <a:off x="5029200" y="20665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شات كامل داخل الغرف</a:t>
            </a:r>
            <a:endParaRPr lang="en-US" sz="12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688336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/>
          <p:nvPr/>
        </p:nvSpPr>
        <p:spPr>
          <a:xfrm>
            <a:off x="5029200" y="26426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إنشاء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</p:txBody>
      </p:sp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3264408"/>
            <a:ext cx="320040" cy="320040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5029200" y="32186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أداء الاختبار + تصحيح فوري</a:t>
            </a:r>
            <a:endParaRPr lang="en-US" sz="12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3840480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/>
          <p:nvPr/>
        </p:nvSpPr>
        <p:spPr>
          <a:xfrm>
            <a:off x="5029200" y="37947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Leaderboard ترتيب الطلاب</a:t>
            </a:r>
            <a:endParaRPr lang="en-US" sz="1200" dirty="0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416552"/>
            <a:ext cx="320040" cy="320040"/>
          </a:xfrm>
          <a:prstGeom prst="rect">
            <a:avLst/>
          </a:prstGeom>
        </p:spPr>
      </p:pic>
      <p:sp>
        <p:nvSpPr>
          <p:cNvPr id="30" name="Text 14"/>
          <p:cNvSpPr/>
          <p:nvPr/>
        </p:nvSpPr>
        <p:spPr>
          <a:xfrm>
            <a:off x="5029200" y="43708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rtl="1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متابعة + رسم بياني للأداء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خارطة الطريق — What's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914400"/>
            <a:ext cx="2743200" cy="1737360"/>
          </a:xfrm>
          <a:prstGeom prst="roundRect">
            <a:avLst>
              <a:gd name="adj" fmla="val 9474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11480" y="987552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E74C3C">
              <a:alpha val="70000"/>
            </a:srgbClr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9875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قريبًا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987552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1572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إشعارات فورية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057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Cloud Messaging مُفعَّل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91840" y="914400"/>
            <a:ext cx="2743200" cy="1737360"/>
          </a:xfrm>
          <a:prstGeom prst="roundRect">
            <a:avLst>
              <a:gd name="adj" fmla="val 9474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383280" y="987552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3498DB">
              <a:alpha val="70000"/>
            </a:srgbClr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383280" y="9875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قريبًا</a:t>
            </a:r>
            <a:endParaRPr lang="en-US" sz="9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987552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83280" y="1572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معلم / أدمن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383280" y="2057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إدارة الغرف والطلاب بصلاحيات أوسع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63640" y="914400"/>
            <a:ext cx="2743200" cy="1737360"/>
          </a:xfrm>
          <a:prstGeom prst="roundRect">
            <a:avLst>
              <a:gd name="adj" fmla="val 9474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355080" y="987552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F5A623">
              <a:alpha val="70000"/>
            </a:srgbClr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355080" y="9875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المرحلة التالية</a:t>
            </a:r>
            <a:endParaRPr lang="en-US" sz="9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987552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55080" y="1572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Gamification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355080" y="2057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شارات وإنجازات ونقاط تحفيز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320040" y="2880360"/>
            <a:ext cx="2743200" cy="1737360"/>
          </a:xfrm>
          <a:prstGeom prst="roundRect">
            <a:avLst>
              <a:gd name="adj" fmla="val 9474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11480" y="2953512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1ABC9C">
              <a:alpha val="70000"/>
            </a:srgbClr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411480" y="29535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المرحلة التالية</a:t>
            </a:r>
            <a:endParaRPr lang="en-US" sz="90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0" y="2953512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11480" y="35387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مشاركة ملفات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411480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رفع PDFs ومصادر داخل الغرف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3291840" y="2880360"/>
            <a:ext cx="2743200" cy="1737360"/>
          </a:xfrm>
          <a:prstGeom prst="roundRect">
            <a:avLst>
              <a:gd name="adj" fmla="val 9474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3383280" y="2953512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9B59B6">
              <a:alpha val="70000"/>
            </a:srgbClr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3"/>
          <p:cNvSpPr/>
          <p:nvPr/>
        </p:nvSpPr>
        <p:spPr>
          <a:xfrm>
            <a:off x="3383280" y="29535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رؤية</a:t>
            </a:r>
            <a:endParaRPr lang="en-US" sz="9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2953512"/>
            <a:ext cx="502920" cy="50292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383280" y="35387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تعدد اللغات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3383280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البنية جاهزة — استكمال الترجمة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263640" y="2880360"/>
            <a:ext cx="2743200" cy="1737360"/>
          </a:xfrm>
          <a:prstGeom prst="roundRect">
            <a:avLst>
              <a:gd name="adj" fmla="val 9474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7"/>
          <p:cNvSpPr/>
          <p:nvPr/>
        </p:nvSpPr>
        <p:spPr>
          <a:xfrm>
            <a:off x="6355080" y="2953512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E91E63">
              <a:alpha val="70000"/>
            </a:srgbClr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8"/>
          <p:cNvSpPr/>
          <p:nvPr/>
        </p:nvSpPr>
        <p:spPr>
          <a:xfrm>
            <a:off x="6355080" y="29535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91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رؤية</a:t>
            </a:r>
            <a:endParaRPr lang="en-US" sz="900" dirty="0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0" y="2953512"/>
            <a:ext cx="502920" cy="50292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6355080" y="35387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ذكاء اصطناعي</a:t>
            </a:r>
            <a:endParaRPr lang="en-US" sz="1400" dirty="0"/>
          </a:p>
        </p:txBody>
      </p:sp>
      <p:sp>
        <p:nvSpPr>
          <p:cNvPr id="38" name="Text 30"/>
          <p:cNvSpPr/>
          <p:nvPr/>
        </p:nvSpPr>
        <p:spPr>
          <a:xfrm>
            <a:off x="6355080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تلخيص ضعفك + اقتراح أسئلة تلقائيًا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914400"/>
            <a:ext cx="5486400" cy="54864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1828800"/>
            <a:ext cx="3657600" cy="3657600"/>
          </a:xfrm>
          <a:prstGeom prst="ellipse">
            <a:avLst/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457200"/>
            <a:ext cx="9144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kern="0" spc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Studex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2743200" y="2194560"/>
            <a:ext cx="3657600" cy="914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نُعيد للطالب الجامعي تركيزه ووقته،</a:t>
            </a:r>
            <a:endParaRPr lang="en-US" sz="1800" dirty="0"/>
          </a:p>
          <a:p>
            <a:pPr marL="0" indent="0" algn="ctr" rtl="1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بمساحة مصمَّمة من الأساس للدراسة.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286000" y="3566160"/>
            <a:ext cx="4572000" cy="640080"/>
          </a:xfrm>
          <a:prstGeom prst="roundRect">
            <a:avLst>
              <a:gd name="adj" fmla="val 25714"/>
            </a:avLst>
          </a:prstGeom>
          <a:solidFill>
            <a:srgbClr val="F5A623">
              <a:alpha val="90000"/>
            </a:srgbClr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86000" y="3566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000" b="1" i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"خليك في المادة، مش في الفيد."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5760" y="4434840"/>
            <a:ext cx="1920240" cy="438912"/>
          </a:xfrm>
          <a:prstGeom prst="roundRect">
            <a:avLst>
              <a:gd name="adj" fmla="val 25000"/>
            </a:avLst>
          </a:prstGeom>
          <a:solidFill>
            <a:srgbClr val="1A2E46"/>
          </a:solidFill>
          <a:ln w="12700">
            <a:solidFill>
              <a:srgbClr val="8B9B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443484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تركيز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14600" y="4434840"/>
            <a:ext cx="1920240" cy="438912"/>
          </a:xfrm>
          <a:prstGeom prst="roundRect">
            <a:avLst>
              <a:gd name="adj" fmla="val 25000"/>
            </a:avLst>
          </a:prstGeom>
          <a:solidFill>
            <a:srgbClr val="1A2E46"/>
          </a:solidFill>
          <a:ln w="12700">
            <a:solidFill>
              <a:srgbClr val="8B9B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514600" y="443484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تنظيم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4434840"/>
            <a:ext cx="1920240" cy="438912"/>
          </a:xfrm>
          <a:prstGeom prst="roundRect">
            <a:avLst>
              <a:gd name="adj" fmla="val 25000"/>
            </a:avLst>
          </a:prstGeom>
          <a:solidFill>
            <a:srgbClr val="1A2E46"/>
          </a:solidFill>
          <a:ln w="12700">
            <a:solidFill>
              <a:srgbClr val="8B9B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63440" y="443484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شفافية في التقدم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12280" y="4434840"/>
            <a:ext cx="1920240" cy="438912"/>
          </a:xfrm>
          <a:prstGeom prst="roundRect">
            <a:avLst>
              <a:gd name="adj" fmla="val 25000"/>
            </a:avLst>
          </a:prstGeom>
          <a:solidFill>
            <a:srgbClr val="1A2E46"/>
          </a:solidFill>
          <a:ln w="12700">
            <a:solidFill>
              <a:srgbClr val="8B9B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12280" y="443484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بناه طلاب لطلاب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457200" y="2743200"/>
            <a:ext cx="2286000" cy="2286000"/>
          </a:xfrm>
          <a:prstGeom prst="ellipse">
            <a:avLst/>
          </a:prstGeom>
          <a:solidFill>
            <a:srgbClr val="1A2E46"/>
          </a:solidFill>
          <a:ln w="12700">
            <a:solidFill>
              <a:srgbClr val="1A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شكرًا</a:t>
            </a:r>
            <a:endParaRPr lang="en-US" sz="10000" dirty="0"/>
          </a:p>
        </p:txBody>
      </p:sp>
      <p:sp>
        <p:nvSpPr>
          <p:cNvPr id="5" name="Shape 3"/>
          <p:cNvSpPr/>
          <p:nvPr/>
        </p:nvSpPr>
        <p:spPr>
          <a:xfrm>
            <a:off x="2743200" y="2743200"/>
            <a:ext cx="3657600" cy="73152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b="1" dirty="0">
                <a:solidFill>
                  <a:srgbClr val="FFD5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فريق Studex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مشروع تخرج — Flutter &amp; Firebase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500" i="1" dirty="0">
                <a:solidFill>
                  <a:srgbClr val="8B9B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لأي أسئلة أو نقاش — نحن هنا 👋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623</Words>
  <Application>Microsoft Office PowerPoint</Application>
  <PresentationFormat>On-screen Show (16:9)</PresentationFormat>
  <Paragraphs>164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Studex – مشروع التخرج</dc:title>
  <dc:subject>PptxGenJS Presentation</dc:subject>
  <dc:creator>Studex Team</dc:creator>
  <cp:lastModifiedBy>20912023100293@fci.zu.edu.eg</cp:lastModifiedBy>
  <cp:revision>2</cp:revision>
  <dcterms:created xsi:type="dcterms:W3CDTF">2026-06-29T18:45:18Z</dcterms:created>
  <dcterms:modified xsi:type="dcterms:W3CDTF">2026-07-01T19:17:36Z</dcterms:modified>
</cp:coreProperties>
</file>