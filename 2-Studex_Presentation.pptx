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228"/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r>
              <a:rPr lang="ar-EG" sz="1200" b="0" i="0" u="none" strike="noStrike">
                <a:solidFill>
                  <a:srgbClr val="8B9BB4"/>
                </a:solidFill>
                <a:latin typeface="Arial"/>
              </a:rPr>
              <a:t>تطور الأداء الأسبوعي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درجاتك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أسبوع ١</c:v>
                </c:pt>
                <c:pt idx="1">
                  <c:v>أسبوع ٢</c:v>
                </c:pt>
                <c:pt idx="2">
                  <c:v>أسبوع ٣</c:v>
                </c:pt>
                <c:pt idx="3">
                  <c:v>أسبوع ٤</c:v>
                </c:pt>
                <c:pt idx="4">
                  <c:v>أسبوع ٥</c:v>
                </c:pt>
                <c:pt idx="5">
                  <c:v>أسبوع ٦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70</c:v>
                </c:pt>
                <c:pt idx="2">
                  <c:v>78</c:v>
                </c:pt>
                <c:pt idx="3">
                  <c:v>82</c:v>
                </c:pt>
                <c:pt idx="4">
                  <c:v>80</c:v>
                </c:pt>
                <c:pt idx="5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44-4B20-85F4-3FC0F5F238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38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0" y="283464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Studex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dirty="0">
                <a:solidFill>
                  <a:srgbClr val="FFD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مساحتك للمذاكرة، بلا تشتيت.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حاجة عن مذاكرتك، في مكان واحد.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416052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1B4F72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Firebase  ·  Clean Architecture</a:t>
            </a:r>
            <a:endParaRPr lang="en-US" sz="1000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4572000" cy="4206240"/>
          </a:xfrm>
          <a:prstGeom prst="roundRect">
            <a:avLst>
              <a:gd name="adj" fmla="val 434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0" y="822960"/>
            <a:ext cx="2011680" cy="3474720"/>
          </a:xfrm>
          <a:prstGeom prst="roundRect">
            <a:avLst>
              <a:gd name="adj" fmla="val 8182"/>
            </a:avLst>
          </a:prstGeom>
          <a:solidFill>
            <a:srgbClr val="1C2F4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03120" y="868680"/>
            <a:ext cx="1097280" cy="73152"/>
          </a:xfrm>
          <a:prstGeom prst="roundRect">
            <a:avLst>
              <a:gd name="adj" fmla="val 50000"/>
            </a:avLst>
          </a:prstGeom>
          <a:solidFill>
            <a:srgbClr val="8B9BB4"/>
          </a:solidFill>
          <a:ln w="1270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347472"/>
          </a:xfrm>
          <a:prstGeom prst="roundRect">
            <a:avLst>
              <a:gd name="adj" fmla="val 31579"/>
            </a:avLst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 هذا الريلز! 🎬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صديقك أضاف منشور 📱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737360" cy="347472"/>
          </a:xfrm>
          <a:prstGeom prst="roundRect">
            <a:avLst>
              <a:gd name="adj" fmla="val 31579"/>
            </a:avLst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 جديد لك! 🛍️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2651760"/>
            <a:ext cx="1645920" cy="347472"/>
          </a:xfrm>
          <a:prstGeom prst="roundRect">
            <a:avLst>
              <a:gd name="adj" fmla="val 31579"/>
            </a:avLst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2651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 الأخبار 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1737360" cy="347472"/>
          </a:xfrm>
          <a:prstGeom prst="roundRect">
            <a:avLst>
              <a:gd name="adj" fmla="val 31579"/>
            </a:avLst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لايك على صورتك ❤️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D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تعرف هذا الموقف؟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1208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تفتح موبايلك بنية المذاكرة،</a:t>
            </a:r>
            <a:endParaRPr lang="en-US" sz="1600" dirty="0"/>
          </a:p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تدخل مجموعة المادة على فيسبوك...</a:t>
            </a:r>
            <a:endParaRPr lang="en-US" sz="1600" dirty="0"/>
          </a:p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وبعد ٢٠ دقيقة: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2080" y="2743200"/>
            <a:ext cx="3657600" cy="822960"/>
          </a:xfrm>
          <a:prstGeom prst="roundRect">
            <a:avLst>
              <a:gd name="adj" fmla="val 16667"/>
            </a:avLst>
          </a:prstGeom>
          <a:solidFill>
            <a:srgbClr val="E74C3C">
              <a:alpha val="1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وسط ريلز وبوستات وإعلانات!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مش فيك — المنصة مش مصممة للمذاكرة.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ثمن التشتيت الحقيقي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743200" cy="3474720"/>
          </a:xfrm>
          <a:prstGeom prst="roundRect">
            <a:avLst>
              <a:gd name="adj" fmla="val 6667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7320" y="1280160"/>
            <a:ext cx="640080" cy="640080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3441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تشتت الانتباه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26517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المنصات الاجتماعية مصممة لسرقة تركيزك.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إشعار = انقطاع يحتاج ١٥ دقيقة للتعافي.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743200" cy="3474720"/>
          </a:xfrm>
          <a:prstGeom prst="roundRect">
            <a:avLst>
              <a:gd name="adj" fmla="val 6667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43400" y="1280160"/>
            <a:ext cx="640080" cy="64008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34416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ضياع وقت المذاكرة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29000" y="26517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الوقت الضائع بين الدخول للمجموعة والبدء الفعلي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المذاكرة قد يصل لنصف وقت الجلسة!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743200" cy="3474720"/>
          </a:xfrm>
          <a:prstGeom prst="roundRect">
            <a:avLst>
              <a:gd name="adj" fmla="val 6667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269480" y="1280160"/>
            <a:ext cx="640080" cy="640080"/>
          </a:xfrm>
          <a:prstGeom prst="ellipse">
            <a:avLst/>
          </a:prstGeom>
          <a:solidFill>
            <a:srgbClr val="3498DB">
              <a:alpha val="80000"/>
            </a:srgbClr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34416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المتابعة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55080" y="26517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تتبع لأدائك، لا اختبارات منظمة،</a:t>
            </a:r>
            <a:endParaRPr lang="en-US" sz="1200" dirty="0"/>
          </a:p>
          <a:p>
            <a:pPr marL="0" indent="0" algn="ctr" rtl="1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شيء يقيس تقدمك الحقيقي في المادة.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74320"/>
            <a:ext cx="2743200" cy="27432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566160" y="640080"/>
            <a:ext cx="2011680" cy="2011680"/>
          </a:xfrm>
          <a:prstGeom prst="ellipse">
            <a:avLst/>
          </a:prstGeom>
          <a:solidFill>
            <a:srgbClr val="F5A623">
              <a:alpha val="28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لحظة...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ليه ما نعمل مساحة مخصصة للدراسة فقط؟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560320" y="4663440"/>
            <a:ext cx="4023360" cy="7315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10972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Studex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914400" y="251460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2743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+ Index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337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واحدة تجمع وتُفهرس</a:t>
            </a:r>
            <a:endParaRPr lang="en-US" sz="1400" dirty="0"/>
          </a:p>
          <a:p>
            <a:pPr marL="0" indent="0" algn="ctr" rtl="1">
              <a:buNone/>
            </a:pPr>
            <a:r>
              <a:rPr lang="en-US" sz="14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حياتك الدراسية.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457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D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Studex؟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663440" y="12344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بيئة رقمية مستقلة،
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مخصصة ١٠٠٪ للدراسة الجامعية،
بدون أي عنصر تشتيت.
</a:t>
            </a:r>
            <a:r>
              <a:rPr lang="en-US" sz="15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توفر للطالب كل ما كان يبحث عنه في مجموعات السوشيال ميديا — لكن بشكل منظم، مُتابَع، وخالٍ من المحتوى الجانبي.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4526280"/>
            <a:ext cx="960120" cy="347472"/>
          </a:xfrm>
          <a:prstGeom prst="roundRect">
            <a:avLst>
              <a:gd name="adj" fmla="val 26316"/>
            </a:avLst>
          </a:prstGeom>
          <a:solidFill>
            <a:srgbClr val="1B4F72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45262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15000" y="4526280"/>
            <a:ext cx="960120" cy="347472"/>
          </a:xfrm>
          <a:prstGeom prst="roundRect">
            <a:avLst>
              <a:gd name="adj" fmla="val 26316"/>
            </a:avLst>
          </a:prstGeom>
          <a:solidFill>
            <a:srgbClr val="1B4F72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0" y="45262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4526280"/>
            <a:ext cx="960120" cy="347472"/>
          </a:xfrm>
          <a:prstGeom prst="roundRect">
            <a:avLst>
              <a:gd name="adj" fmla="val 26316"/>
            </a:avLst>
          </a:prstGeom>
          <a:solidFill>
            <a:srgbClr val="1B4F72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45262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Bloc/Cubit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18120" y="4526280"/>
            <a:ext cx="960120" cy="347472"/>
          </a:xfrm>
          <a:prstGeom prst="roundRect">
            <a:avLst>
              <a:gd name="adj" fmla="val 26316"/>
            </a:avLst>
          </a:prstGeom>
          <a:solidFill>
            <a:srgbClr val="1B4F72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18120" y="45262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الأعمدة الأربعة لـ Studex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691640"/>
          </a:xfrm>
          <a:prstGeom prst="roundRect">
            <a:avLst>
              <a:gd name="adj" fmla="val 108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640080" cy="640080"/>
          </a:xfrm>
          <a:prstGeom prst="ellipse">
            <a:avLst/>
          </a:prstGeom>
          <a:solidFill>
            <a:srgbClr val="3498DB">
              <a:alpha val="75000"/>
            </a:srgbClr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591056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غرف دراسية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25880" y="1847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مخصصة لكل مادة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114800" cy="1691640"/>
          </a:xfrm>
          <a:prstGeom prst="roundRect">
            <a:avLst>
              <a:gd name="adj" fmla="val 108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46320" y="1527048"/>
            <a:ext cx="640080" cy="640080"/>
          </a:xfrm>
          <a:prstGeom prst="ellipse">
            <a:avLst/>
          </a:prstGeom>
          <a:solidFill>
            <a:srgbClr val="1ABC9C">
              <a:alpha val="7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591056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شات داخل الغرف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623560" y="1847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تواصل في سياق دراسي بحت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2926080"/>
            <a:ext cx="4114800" cy="1691640"/>
          </a:xfrm>
          <a:prstGeom prst="roundRect">
            <a:avLst>
              <a:gd name="adj" fmla="val 108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48640" y="3447288"/>
            <a:ext cx="640080" cy="640080"/>
          </a:xfrm>
          <a:prstGeom prst="ellipse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511296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اختبارات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325880" y="3767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إنشاء، أداء، تصحيح فوري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4114800" cy="1691640"/>
          </a:xfrm>
          <a:prstGeom prst="roundRect">
            <a:avLst>
              <a:gd name="adj" fmla="val 108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46320" y="3447288"/>
            <a:ext cx="640080" cy="640080"/>
          </a:xfrm>
          <a:prstGeom prst="ellipse">
            <a:avLst/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511296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2356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متابعة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23560" y="3767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واضح وترتيب صدارة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023360" cy="457200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5029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غرف دراسية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474720" cy="502920"/>
          </a:xfrm>
          <a:prstGeom prst="roundRect">
            <a:avLst>
              <a:gd name="adj" fmla="val 21818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مادة الرياضيات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3474720" cy="502920"/>
          </a:xfrm>
          <a:prstGeom prst="roundRect">
            <a:avLst>
              <a:gd name="adj" fmla="val 21818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⚗️ مادة الكيمياء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3474720" cy="502920"/>
          </a:xfrm>
          <a:prstGeom prst="roundRect">
            <a:avLst>
              <a:gd name="adj" fmla="val 21818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البرمجة المتقدمة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3474720" cy="502920"/>
          </a:xfrm>
          <a:prstGeom prst="roundRect">
            <a:avLst>
              <a:gd name="adj" fmla="val 21818"/>
            </a:avLst>
          </a:prstGeom>
          <a:solidFill>
            <a:srgbClr val="1B4F72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D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إنشاء غرفة جديدة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0" y="274320"/>
            <a:ext cx="4297680" cy="4572000"/>
          </a:xfrm>
          <a:prstGeom prst="roundRect">
            <a:avLst>
              <a:gd name="adj" fmla="val 425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0292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1234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شات داخل الغرفة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400800" y="1828800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00800" y="18288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1016" rIns="1016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حد فاهم مسألة ٣؟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54880" y="2450592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754880" y="24505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1016" rIns="1016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أيوه أنا، هشرحها 🙋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0" y="3072384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400800" y="30723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1016" rIns="1016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ممكن تشارك الشرح هنا؟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754880" y="3694176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754880" y="36941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1016" rIns="1016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بالتأكيد، الحل هو...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663440" y="4526280"/>
            <a:ext cx="3566160" cy="384048"/>
          </a:xfrm>
          <a:prstGeom prst="roundRect">
            <a:avLst>
              <a:gd name="adj" fmla="val 28571"/>
            </a:avLst>
          </a:prstGeom>
          <a:solidFill>
            <a:srgbClr val="1A2E46"/>
          </a:solidFill>
          <a:ln w="1270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709160" y="4526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رسالتك...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863840" y="4590288"/>
            <a:ext cx="274320" cy="2743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الاختبارات ولوحة الصدارة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48840" y="1417320"/>
            <a:ext cx="457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828800" cy="1554480"/>
          </a:xfrm>
          <a:prstGeom prst="roundRect">
            <a:avLst>
              <a:gd name="adj" fmla="val 105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987552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الاختبار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عنوان + وصف + عدد الأسئلة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457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828800" cy="1554480"/>
          </a:xfrm>
          <a:prstGeom prst="roundRect">
            <a:avLst>
              <a:gd name="adj" fmla="val 105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987552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604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الأسئلة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خيارات متعددة + الإجابة الصحيحة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1417320"/>
            <a:ext cx="457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00600" y="914400"/>
            <a:ext cx="1828800" cy="1554480"/>
          </a:xfrm>
          <a:prstGeom prst="roundRect">
            <a:avLst>
              <a:gd name="adj" fmla="val 105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94960" y="987552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الاختبار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سهلة واضحة للطالب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914400"/>
            <a:ext cx="1828800" cy="1554480"/>
          </a:xfrm>
          <a:prstGeom prst="roundRect">
            <a:avLst>
              <a:gd name="adj" fmla="val 105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35240" y="987552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3524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الفورية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الدرجة + مراجعة الإجابات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8503920" cy="2148840"/>
          </a:xfrm>
          <a:prstGeom prst="roundRect">
            <a:avLst>
              <a:gd name="adj" fmla="val 851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834640"/>
            <a:ext cx="502920" cy="502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57200" y="27889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D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الصدارة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02920" y="3364992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492240" y="3364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 أحمد محمد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" y="3493008"/>
            <a:ext cx="914400" cy="128016"/>
          </a:xfrm>
          <a:prstGeom prst="roundRect">
            <a:avLst>
              <a:gd name="adj" fmla="val 42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0" y="33649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٩٢٪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2920" y="3822192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492240" y="3822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 سارة إبراهيم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40080" y="3950208"/>
            <a:ext cx="914400" cy="128016"/>
          </a:xfrm>
          <a:prstGeom prst="roundRect">
            <a:avLst>
              <a:gd name="adj" fmla="val 42857"/>
            </a:avLst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0" y="3822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٨٧٪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" y="4279392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492240" y="4279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  محمود علي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40080" y="4407408"/>
            <a:ext cx="914400" cy="128016"/>
          </a:xfrm>
          <a:prstGeom prst="roundRect">
            <a:avLst>
              <a:gd name="adj" fmla="val 42857"/>
            </a:avLst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0" y="42793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٨٣٪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المتابعة الشخصية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أُديت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8686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960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٨٥٪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درجاتك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8686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80760" y="960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٦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08076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غرف نشطة</a:t>
            </a:r>
            <a:endParaRPr lang="en-US" sz="13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320040" y="2423160"/>
          <a:ext cx="53035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5852160" y="2423160"/>
            <a:ext cx="3017520" cy="246888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D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النشاط الأخير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43600" y="3017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اختبار رياضيات — ٨٨٪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0" y="34564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انضممت لغرفة الكيمياء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38953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أجبت على سؤالين في الشات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4334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اختبار برمجة — ٩٢٪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 التقني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i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 باحترافية هندسية — مش مجرد نموذج سطحي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1508760"/>
          </a:xfrm>
          <a:prstGeom prst="roundRect">
            <a:avLst>
              <a:gd name="adj" fmla="val 10909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594360" cy="594360"/>
          </a:xfrm>
          <a:prstGeom prst="ellipse">
            <a:avLst/>
          </a:prstGeom>
          <a:solidFill>
            <a:srgbClr val="3498DB">
              <a:alpha val="75000"/>
            </a:srgbClr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819656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544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20391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موبايل متعددة المنصات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743200" cy="1508760"/>
          </a:xfrm>
          <a:prstGeom prst="roundRect">
            <a:avLst>
              <a:gd name="adj" fmla="val 10909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74720" y="1755648"/>
            <a:ext cx="594360" cy="594360"/>
          </a:xfrm>
          <a:prstGeom prst="ellipse">
            <a:avLst/>
          </a:prstGeom>
          <a:solidFill>
            <a:srgbClr val="E74C3C">
              <a:alpha val="7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819656"/>
            <a:ext cx="466344" cy="4663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5544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Suite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206240" y="20391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Firestore + Storage + FCM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325880"/>
            <a:ext cx="2743200" cy="1508760"/>
          </a:xfrm>
          <a:prstGeom prst="roundRect">
            <a:avLst>
              <a:gd name="adj" fmla="val 10909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00800" y="1755648"/>
            <a:ext cx="594360" cy="594360"/>
          </a:xfrm>
          <a:prstGeom prst="ellipse">
            <a:avLst/>
          </a:prstGeom>
          <a:solidFill>
            <a:srgbClr val="1ABC9C">
              <a:alpha val="7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819656"/>
            <a:ext cx="466344" cy="4663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15544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132320" y="20391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Domain / Presentation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3017520"/>
            <a:ext cx="2743200" cy="1508760"/>
          </a:xfrm>
          <a:prstGeom prst="roundRect">
            <a:avLst>
              <a:gd name="adj" fmla="val 10909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48640" y="3447288"/>
            <a:ext cx="594360" cy="594360"/>
          </a:xfrm>
          <a:prstGeom prst="ellipse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511296"/>
            <a:ext cx="466344" cy="4663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2461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/ Cubit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80160" y="37307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الحالة بطريقة منظمة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743200" cy="1508760"/>
          </a:xfrm>
          <a:prstGeom prst="roundRect">
            <a:avLst>
              <a:gd name="adj" fmla="val 10909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474720" y="3447288"/>
            <a:ext cx="594360" cy="594360"/>
          </a:xfrm>
          <a:prstGeom prst="ellipse">
            <a:avLst/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3511296"/>
            <a:ext cx="466344" cy="4663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2461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206240" y="37307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Rules + أدوار مستخدمين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3017520"/>
            <a:ext cx="2743200" cy="1508760"/>
          </a:xfrm>
          <a:prstGeom prst="roundRect">
            <a:avLst>
              <a:gd name="adj" fmla="val 10909"/>
            </a:avLst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400800" y="3447288"/>
            <a:ext cx="594360" cy="594360"/>
          </a:xfrm>
          <a:prstGeom prst="ellipse">
            <a:avLst/>
          </a:prstGeom>
          <a:solidFill>
            <a:srgbClr val="27AE60">
              <a:alpha val="75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08" y="3511296"/>
            <a:ext cx="466344" cy="4663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32461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أدوار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132320" y="37307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طالب · معلم · أدمن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تم إنجازه فعليًا ✓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8915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Firebase كامل (Auth, Firestore, Storage, FCM)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36192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446801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مشروع Feature-based Architecture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12264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20436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Dependency Injection مركزي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88336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0080" y="26426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أدوار: طالب / معلم / أدمن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64408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0080" y="3218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أمان Firestore مختبَرة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320040" cy="3200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40080" y="37326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دخول / تسجيل / استرجاع كلمة المرور</a:t>
            </a:r>
            <a:endParaRPr lang="en-US" sz="12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416552"/>
            <a:ext cx="320040" cy="3200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85800" y="43479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شاشات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تعريفية٣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شاشات</a:t>
            </a:r>
            <a:endParaRPr lang="en-US" sz="12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60120"/>
            <a:ext cx="320040" cy="32004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02920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دخول تلقائي (Auto-login)</a:t>
            </a:r>
            <a:endParaRPr lang="en-US" sz="12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536192"/>
            <a:ext cx="320040" cy="32004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029200" y="14904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إنشاء/عرض/انضمام للغرف الدراسية</a:t>
            </a:r>
            <a:endParaRPr lang="en-US" sz="12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112264"/>
            <a:ext cx="320040" cy="32004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029200" y="20665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شات كامل داخل الغرف</a:t>
            </a:r>
            <a:endParaRPr lang="en-US" sz="12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688336"/>
            <a:ext cx="320040" cy="32004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5029200" y="26426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264408"/>
            <a:ext cx="320040" cy="32004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5029200" y="3218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الاختبار + تصحيح فوري</a:t>
            </a:r>
            <a:endParaRPr lang="en-US" sz="12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840480"/>
            <a:ext cx="320040" cy="32004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502920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ترتيب الطلاب</a:t>
            </a:r>
            <a:endParaRPr lang="en-US" sz="120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416552"/>
            <a:ext cx="320040" cy="32004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5029200" y="4370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متابعة + رسم بياني للأداء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الطريق — 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743200" cy="1737360"/>
          </a:xfrm>
          <a:prstGeom prst="roundRect">
            <a:avLst>
              <a:gd name="adj" fmla="val 947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74C3C">
              <a:alpha val="7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قريبًا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8755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فورية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Cloud Messaging مُفعَّل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743200" cy="1737360"/>
          </a:xfrm>
          <a:prstGeom prst="roundRect">
            <a:avLst>
              <a:gd name="adj" fmla="val 947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83280" y="98755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3498DB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83280" y="987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قريبًا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98755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معلم / أدمن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الغرف والطلاب بصلاحيات أوسع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63640" y="914400"/>
            <a:ext cx="2743200" cy="1737360"/>
          </a:xfrm>
          <a:prstGeom prst="roundRect">
            <a:avLst>
              <a:gd name="adj" fmla="val 947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355080" y="98755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355080" y="987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التالية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98755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5508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شارات وإنجازات ونقاط تحفيز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0040" y="2880360"/>
            <a:ext cx="2743200" cy="1737360"/>
          </a:xfrm>
          <a:prstGeom prst="roundRect">
            <a:avLst>
              <a:gd name="adj" fmla="val 947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11480" y="295351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1ABC9C">
              <a:alpha val="7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11480" y="2953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التالية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2953512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11480" y="3538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ملفات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1148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PDFs ومصادر داخل الغرف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91840" y="2880360"/>
            <a:ext cx="2743200" cy="1737360"/>
          </a:xfrm>
          <a:prstGeom prst="roundRect">
            <a:avLst>
              <a:gd name="adj" fmla="val 947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3383280" y="295351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9B59B6">
              <a:alpha val="70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383280" y="2953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رؤية</a:t>
            </a:r>
            <a:endParaRPr lang="en-US" sz="9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2953512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383280" y="3538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تعدد اللغات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38328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جاهزة — استكمال الترجمة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263640" y="2880360"/>
            <a:ext cx="2743200" cy="1737360"/>
          </a:xfrm>
          <a:prstGeom prst="roundRect">
            <a:avLst>
              <a:gd name="adj" fmla="val 947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6355080" y="2953512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91E63">
              <a:alpha val="70000"/>
            </a:srgbClr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355080" y="2953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رؤية</a:t>
            </a:r>
            <a:endParaRPr lang="en-US" sz="9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2953512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355080" y="3538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ذكاء اصطناعي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635508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تلخيص ضعفك + اقتراح أسئلة تلقائيًا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5720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Studex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2743200" y="2194560"/>
            <a:ext cx="3657600" cy="914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نُعيد للطالب الجامعي تركيزه ووقته،</a:t>
            </a:r>
            <a:endParaRPr lang="en-US" sz="1800" dirty="0"/>
          </a:p>
          <a:p>
            <a:pPr marL="0" indent="0" algn="ctr" rtl="1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بمساحة مصمَّمة من الأساس للدراسة.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566160"/>
            <a:ext cx="4572000" cy="640080"/>
          </a:xfrm>
          <a:prstGeom prst="roundRect">
            <a:avLst>
              <a:gd name="adj" fmla="val 25714"/>
            </a:avLst>
          </a:prstGeom>
          <a:solidFill>
            <a:srgbClr val="F5A623">
              <a:alpha val="9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"خليك في المادة، مش في الفيد."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4434840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A2E46"/>
          </a:solidFill>
          <a:ln w="1270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44348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تركيز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4434840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A2E46"/>
          </a:solidFill>
          <a:ln w="1270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44348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4434840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A2E46"/>
          </a:solidFill>
          <a:ln w="1270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44348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شفافية في التقدم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4434840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A2E46"/>
          </a:solidFill>
          <a:ln w="1270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12280" y="44348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بناه طلاب لطلاب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AB042CD-7126-5EF3-A07D-94013EBAC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390" y="2101681"/>
            <a:ext cx="5991726" cy="225952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2743200"/>
            <a:ext cx="2286000" cy="2286000"/>
          </a:xfrm>
          <a:prstGeom prst="ellipse">
            <a:avLst/>
          </a:prstGeom>
          <a:solidFill>
            <a:srgbClr val="1A2E46"/>
          </a:solidFill>
          <a:ln w="12700">
            <a:solidFill>
              <a:srgbClr val="1A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-104274" y="-149192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شكرًا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2181726" y="1626673"/>
            <a:ext cx="3657600" cy="7315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-248652" y="16110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FFD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Studex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36885" y="434172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مشروع تخرج — Flutter &amp; Firebase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6885" y="464459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i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لأي أسئلة أو نقاش — نحن هنا 👋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623</Words>
  <Application>Microsoft Office PowerPoint</Application>
  <PresentationFormat>On-screen Show (16:9)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Studex – مشروع التخرج</dc:title>
  <dc:subject>PptxGenJS Presentation</dc:subject>
  <dc:creator>Studex Team</dc:creator>
  <cp:lastModifiedBy>20912023100293@fci.zu.edu.eg</cp:lastModifiedBy>
  <cp:revision>3</cp:revision>
  <dcterms:created xsi:type="dcterms:W3CDTF">2026-06-29T18:45:18Z</dcterms:created>
  <dcterms:modified xsi:type="dcterms:W3CDTF">2026-07-02T19:44:49Z</dcterms:modified>
</cp:coreProperties>
</file>