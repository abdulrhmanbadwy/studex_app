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989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bdulrhmanbadwy.masre@gmail.com" TargetMode="External"/><Relationship Id="rId5" Type="http://schemas.openxmlformats.org/officeDocument/2006/relationships/image" Target="../media/image19.png"/><Relationship Id="rId4" Type="http://schemas.openxmlformats.org/officeDocument/2006/relationships/hyperlink" Target="https://github.com/AbdulrhmanBadwy/studex_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FAB7D">
              <a:alpha val="25000"/>
            </a:srgbClr>
          </a:solidFill>
          <a:ln w="12700">
            <a:solidFill>
              <a:srgbClr val="0FAB7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3291840" cy="3291840"/>
          </a:xfrm>
          <a:prstGeom prst="ellipse">
            <a:avLst/>
          </a:prstGeom>
          <a:solidFill>
            <a:srgbClr val="0FAB7D">
              <a:alpha val="20000"/>
            </a:srgbClr>
          </a:solidFill>
          <a:ln w="12700">
            <a:solidFill>
              <a:srgbClr val="0FAB7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548640"/>
            <a:ext cx="1828800" cy="1828800"/>
          </a:xfrm>
          <a:prstGeom prst="ellipse">
            <a:avLst/>
          </a:prstGeom>
          <a:solidFill>
            <a:srgbClr val="336EA8">
              <a:alpha val="30000"/>
            </a:srgbClr>
          </a:solidFill>
          <a:ln w="12700">
            <a:solidFill>
              <a:srgbClr val="336EA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749040" y="777240"/>
            <a:ext cx="1645920" cy="1645920"/>
          </a:xfrm>
          <a:prstGeom prst="ellipse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3444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417320"/>
            <a:ext cx="274320" cy="274320"/>
          </a:xfrm>
          <a:prstGeom prst="ellipse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Studex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مساحتك للمذاكرة، بلا تشتيت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Studex — Everything about your study, in one place.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AbdulrhmanBadwy &amp; Studex Team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 ·  2 JUL 2026</a:t>
            </a:r>
            <a:endParaRPr lang="en-US" sz="95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1777" y="571500"/>
            <a:ext cx="6083848" cy="43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فكرة المشروع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047954">
              <a:alpha val="8000"/>
            </a:srgbClr>
          </a:solidFill>
          <a:ln w="12700">
            <a:solidFill>
              <a:srgbClr val="04795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047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طالب يفتح مجموعة فيسبوك بنية المذاكرة... ويجد نفسه بعد دقائق وسط الريلز والبوستات.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06908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148840"/>
            <a:ext cx="594360" cy="594360"/>
          </a:xfrm>
          <a:prstGeom prst="ellipse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12848"/>
            <a:ext cx="466344" cy="4663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94360" y="27432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منصات التواصل الاجتماعي مصممة للترفيه العام، لا للدراسة.</a:t>
            </a:r>
            <a:endParaRPr lang="en-US" sz="12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تشتت ذهني فوري عند فتح أي مجموعة فيسبوك أو واتساب.</a:t>
            </a:r>
            <a:endParaRPr lang="en-US" sz="12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غياب أي تنظيم أو متابعة حقيقية للأداء الدراسي.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709160" y="1965960"/>
            <a:ext cx="4069080" cy="2834640"/>
          </a:xfrm>
          <a:prstGeom prst="roundRect">
            <a:avLst>
              <a:gd name="adj" fmla="val 5806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37760" y="2148840"/>
            <a:ext cx="594360" cy="59436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212848"/>
            <a:ext cx="466344" cy="4663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2176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937760" y="2743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بيئة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رقمية مستقلة 100% للدراسة الجامعية فقط، بلا أي تشتيت.</a:t>
            </a:r>
            <a:endParaRPr lang="en-US" sz="125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ما كان يبحث عنه الطالب في السوشيال ميديا — منظَّم ومُتابَع.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937760" y="406908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29200" y="40690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50" b="1" dirty="0" err="1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غرف</a:t>
            </a:r>
            <a:r>
              <a:rPr lang="en-US" sz="95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950" b="1" dirty="0" err="1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شات</a:t>
            </a:r>
            <a:r>
              <a:rPr lang="en-US" sz="95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اختبارات + </a:t>
            </a:r>
            <a:r>
              <a:rPr lang="en-US" sz="950" b="1" dirty="0" err="1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</a:t>
            </a:r>
            <a:r>
              <a:rPr lang="en-US" sz="95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b="1" dirty="0" err="1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</a:t>
            </a:r>
            <a:r>
              <a:rPr lang="en-US" sz="95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تطبيق </a:t>
            </a:r>
            <a:r>
              <a:rPr lang="en-US" sz="950" b="1" dirty="0" err="1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واحد</a:t>
            </a:r>
            <a:r>
              <a:rPr lang="en-US" sz="95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Wireframe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6720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الشاشات ورحلة المستخدم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1389888"/>
            <a:ext cx="8138160" cy="36576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0624" y="1325880"/>
            <a:ext cx="164592" cy="164592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1325880"/>
            <a:ext cx="164592" cy="164592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27632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5888" y="1325880"/>
            <a:ext cx="164592" cy="164592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55264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1325880"/>
            <a:ext cx="164592" cy="164592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31152" y="1325880"/>
            <a:ext cx="164592" cy="164592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0528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Room/Quiz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58784" y="1325880"/>
            <a:ext cx="164592" cy="164592"/>
          </a:xfrm>
          <a:prstGeom prst="ellipse">
            <a:avLst/>
          </a:prstGeom>
          <a:solidFill>
            <a:srgbClr val="04795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3816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874520"/>
            <a:ext cx="19202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" y="1984248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3192" y="2403348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3192" y="2741676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29768" y="3136392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14600" y="1874520"/>
            <a:ext cx="19202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587752" y="1984248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8775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60320" y="2478024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624328" y="2788920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24328" y="3099816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51176" y="2418588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درجات الاختبارات</a:t>
            </a:r>
            <a:endParaRPr lang="en-US" sz="1600" dirty="0"/>
          </a:p>
          <a:p>
            <a:pPr algn="ctr" rtl="1">
              <a:spcAft>
                <a:spcPts val="300"/>
              </a:spcAft>
              <a:buSzPct val="100000"/>
            </a:pP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رسم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بياني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للأداء</a:t>
            </a:r>
            <a:endParaRPr lang="en-US" sz="1600" dirty="0"/>
          </a:p>
          <a:p>
            <a:pPr algn="ctr" rtl="1"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 الأخير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09160" y="1874520"/>
            <a:ext cx="19202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82312" y="1984248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8231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Flow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18888" y="2441448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818888" y="2788920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82312" y="3211830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36592" y="2418588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اختبار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الاختبار</a:t>
            </a:r>
            <a:endParaRPr lang="en-US" sz="1600" dirty="0"/>
          </a:p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903720" y="1874520"/>
            <a:ext cx="192024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76872" y="1984248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976872" y="198424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Room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013448" y="2441448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82587" y="2788920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013448" y="3136392"/>
            <a:ext cx="1700784" cy="265176"/>
          </a:xfrm>
          <a:prstGeom prst="roundRect">
            <a:avLst>
              <a:gd name="adj" fmla="val 2069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07530" y="2371343"/>
            <a:ext cx="1773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فقاعات الرسائل</a:t>
            </a:r>
            <a:endParaRPr lang="en-US" sz="1600" dirty="0"/>
          </a:p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حقل إدخال</a:t>
            </a:r>
            <a:endParaRPr lang="en-US" sz="1600" dirty="0"/>
          </a:p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تابات تنظيمية</a:t>
            </a:r>
            <a:endParaRPr lang="en-US" sz="1600" dirty="0"/>
          </a:p>
        </p:txBody>
      </p:sp>
      <p:sp>
        <p:nvSpPr>
          <p:cNvPr id="51" name="Text 32">
            <a:extLst>
              <a:ext uri="{FF2B5EF4-FFF2-40B4-BE49-F238E27FC236}">
                <a16:creationId xmlns:a16="http://schemas.microsoft.com/office/drawing/2014/main" id="{E07A646B-9A08-AD73-64B4-E4B631B9B5E8}"/>
              </a:ext>
            </a:extLst>
          </p:cNvPr>
          <p:cNvSpPr/>
          <p:nvPr/>
        </p:nvSpPr>
        <p:spPr>
          <a:xfrm>
            <a:off x="356616" y="2340292"/>
            <a:ext cx="1773936" cy="1067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  <a:defRPr/>
            </a:pP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هيدر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ترحيبي</a:t>
            </a:r>
            <a:endParaRPr lang="en-US" sz="1600" dirty="0"/>
          </a:p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الغرف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النشطة</a:t>
            </a:r>
            <a:endParaRPr lang="en-US" sz="1600" dirty="0"/>
          </a:p>
          <a:p>
            <a:pPr algn="ctr" rtl="1">
              <a:lnSpc>
                <a:spcPct val="150000"/>
              </a:lnSpc>
              <a:spcAft>
                <a:spcPts val="300"/>
              </a:spcAft>
              <a:buSzPct val="100000"/>
            </a:pP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شبكة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الغرف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الدراسية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+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664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المستخدمون والميزات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06040" cy="1051560"/>
          </a:xfrm>
          <a:prstGeom prst="roundRect">
            <a:avLst>
              <a:gd name="adj" fmla="val 15652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2606040" cy="36576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44168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517904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1188" y="1975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65760" y="2441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0627" y="2259531"/>
            <a:ext cx="242829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إنشاء/الانضمام لغرف دراسية</a:t>
            </a:r>
            <a:endParaRPr lang="en-US" sz="16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الشات الجماعي + أداء الاختبارات</a:t>
            </a:r>
            <a:endParaRPr lang="en-US" sz="16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</a:t>
            </a:r>
            <a:r>
              <a:rPr lang="en-US" sz="1600" dirty="0" err="1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الأداء</a:t>
            </a:r>
            <a:r>
              <a:rPr lang="en-US" sz="16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Leaderboard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00400" y="12344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0" y="1234440"/>
            <a:ext cx="2606040" cy="1051560"/>
          </a:xfrm>
          <a:prstGeom prst="roundRect">
            <a:avLst>
              <a:gd name="adj" fmla="val 15652"/>
            </a:avLst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00400" y="1920240"/>
            <a:ext cx="2542674" cy="22860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78808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517904"/>
            <a:ext cx="438912" cy="4389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0040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200400" y="2441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المعلم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157087" y="2273167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وإدارة الاختبارات</a:t>
            </a:r>
            <a:endParaRPr lang="en-US" dirty="0"/>
          </a:p>
          <a:p>
            <a:pPr marL="171450" indent="-1714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وإدارة الغرف</a:t>
            </a:r>
            <a:endParaRPr lang="en-US" dirty="0"/>
          </a:p>
          <a:p>
            <a:pPr marL="171450" indent="-1714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نتائج الطلاب</a:t>
            </a:r>
            <a:endParaRPr lang="en-US" dirty="0"/>
          </a:p>
        </p:txBody>
      </p:sp>
      <p:sp>
        <p:nvSpPr>
          <p:cNvPr id="24" name="Shape 20"/>
          <p:cNvSpPr/>
          <p:nvPr/>
        </p:nvSpPr>
        <p:spPr>
          <a:xfrm>
            <a:off x="6035040" y="1234440"/>
            <a:ext cx="2606040" cy="35204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035040" y="1234440"/>
            <a:ext cx="2606040" cy="1051560"/>
          </a:xfrm>
          <a:prstGeom prst="roundRect">
            <a:avLst>
              <a:gd name="adj" fmla="val 15652"/>
            </a:avLst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035040" y="1920240"/>
            <a:ext cx="2547486" cy="8229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7013448" y="1417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517904"/>
            <a:ext cx="438912" cy="4389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040173" y="1975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6035040" y="24414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الأدمن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029907" y="2436876"/>
            <a:ext cx="236460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تحكم كامل في المنصة</a:t>
            </a:r>
            <a:endParaRPr lang="en-US" dirty="0"/>
          </a:p>
          <a:p>
            <a:pPr marL="285750" indent="-2857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البيانات والإعدادات</a:t>
            </a:r>
            <a:endParaRPr lang="en-US" dirty="0"/>
          </a:p>
          <a:p>
            <a:pPr marL="285750" indent="-285750" algn="r" rtl="1">
              <a:spcAft>
                <a:spcPts val="800"/>
              </a:spcAft>
              <a:buSzPct val="10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صلاحيات شاملة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6419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البيانات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8872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· Cloud Firestore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18872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(Flutter/Bloc) → Repositories → Firebase Services → Firestore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01952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20440" y="178308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90195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9312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583680" y="178308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19019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02552" y="22585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520440" y="34290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35478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39312" y="39044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quiz_attempts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34290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478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76072" y="39044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2377440" y="2240280"/>
            <a:ext cx="114300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5440680" y="2240280"/>
            <a:ext cx="1143000" cy="0"/>
          </a:xfrm>
          <a:prstGeom prst="line">
            <a:avLst/>
          </a:prstGeom>
          <a:noFill/>
          <a:ln w="19050">
            <a:solidFill>
              <a:srgbClr val="5B6B6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1417320" y="2697480"/>
            <a:ext cx="0" cy="731520"/>
          </a:xfrm>
          <a:prstGeom prst="line">
            <a:avLst/>
          </a:prstGeom>
          <a:noFill/>
          <a:ln w="19050">
            <a:solidFill>
              <a:srgbClr val="5B6B6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480560" y="2697480"/>
            <a:ext cx="0" cy="731520"/>
          </a:xfrm>
          <a:prstGeom prst="line">
            <a:avLst/>
          </a:prstGeom>
          <a:noFill/>
          <a:ln w="19050">
            <a:solidFill>
              <a:srgbClr val="5B6B6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377440" y="2880360"/>
            <a:ext cx="1143000" cy="1005840"/>
          </a:xfrm>
          <a:prstGeom prst="line">
            <a:avLst/>
          </a:prstGeom>
          <a:noFill/>
          <a:ln w="19050">
            <a:solidFill>
              <a:srgbClr val="5B6B6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2423160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5486400" y="20116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authorId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91440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393192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quizId+userId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6583680" y="34290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E3EAE7"/>
          </a:solidFill>
          <a:ln w="12700">
            <a:solidFill>
              <a:srgbClr val="E3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675120" y="3429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Rules: Role-Based + Ownership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+ Frameworks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اللغات والأدوات التقنية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4632" y="1399032"/>
            <a:ext cx="502920" cy="502920"/>
          </a:xfrm>
          <a:prstGeom prst="ellipse">
            <a:avLst/>
          </a:prstGeom>
          <a:solidFill>
            <a:srgbClr val="047954">
              <a:alpha val="18000"/>
            </a:srgbClr>
          </a:solidFill>
          <a:ln w="12700">
            <a:solidFill>
              <a:srgbClr val="04795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123444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364992" y="1399032"/>
            <a:ext cx="502920" cy="502920"/>
          </a:xfrm>
          <a:prstGeom prst="ellipse">
            <a:avLst/>
          </a:prstGeom>
          <a:solidFill>
            <a:srgbClr val="336EA8">
              <a:alpha val="18000"/>
            </a:srgbClr>
          </a:solidFill>
          <a:ln w="12700">
            <a:solidFill>
              <a:srgbClr val="336EA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63040"/>
            <a:ext cx="374904" cy="374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38328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80760" y="123444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45352" y="1399032"/>
            <a:ext cx="502920" cy="502920"/>
          </a:xfrm>
          <a:prstGeom prst="ellipse">
            <a:avLst/>
          </a:prstGeom>
          <a:solidFill>
            <a:srgbClr val="D7B119">
              <a:alpha val="18000"/>
            </a:srgbClr>
          </a:solidFill>
          <a:ln w="12700">
            <a:solidFill>
              <a:srgbClr val="D7B11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463040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2636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Firebase: Auth · Firestore</a:t>
            </a:r>
            <a:endParaRPr lang="en-US" sz="950" dirty="0"/>
          </a:p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FCM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20040" y="306324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4632" y="3227832"/>
            <a:ext cx="502920" cy="502920"/>
          </a:xfrm>
          <a:prstGeom prst="ellipse">
            <a:avLst/>
          </a:prstGeom>
          <a:solidFill>
            <a:srgbClr val="0FAB7D">
              <a:alpha val="18000"/>
            </a:srgbClr>
          </a:solidFill>
          <a:ln w="12700">
            <a:solidFill>
              <a:srgbClr val="0FAB7D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91840"/>
            <a:ext cx="374904" cy="374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728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0292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950" dirty="0"/>
          </a:p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/ Cubit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0" y="306324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3364992" y="3227832"/>
            <a:ext cx="502920" cy="502920"/>
          </a:xfrm>
          <a:prstGeom prst="ellipse">
            <a:avLst/>
          </a:prstGeom>
          <a:solidFill>
            <a:srgbClr val="336EA8">
              <a:alpha val="18000"/>
            </a:srgbClr>
          </a:solidFill>
          <a:ln w="12700">
            <a:solidFill>
              <a:srgbClr val="336EA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91840"/>
            <a:ext cx="374904" cy="374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7764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338328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· get_it · google_fonts</a:t>
            </a:r>
            <a:endParaRPr lang="en-US" sz="950" dirty="0"/>
          </a:p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flutter_screenutil · google_sign_in</a:t>
            </a:r>
            <a:endParaRPr lang="en-US" sz="950" dirty="0"/>
          </a:p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 · equatable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6080760" y="306324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6245352" y="3227832"/>
            <a:ext cx="502920" cy="502920"/>
          </a:xfrm>
          <a:prstGeom prst="ellipse">
            <a:avLst/>
          </a:prstGeom>
          <a:solidFill>
            <a:srgbClr val="047954">
              <a:alpha val="18000"/>
            </a:srgbClr>
          </a:solidFill>
          <a:ln w="12700">
            <a:solidFill>
              <a:srgbClr val="04795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91840"/>
            <a:ext cx="374904" cy="37490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5800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626364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950" dirty="0"/>
          </a:p>
          <a:p>
            <a:pPr marL="171450" indent="-171450" algn="l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Emulator Suite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+ Test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حالة التطبيق والاختبار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365760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3291840" cy="502920"/>
          </a:xfrm>
          <a:prstGeom prst="roundRect">
            <a:avLst>
              <a:gd name="adj" fmla="val 21818"/>
            </a:avLst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— قيد الاختبار على أجهزة حقيقية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الأساسية والميزات الجوهرية (مصادقة، غرف، شات، اختبارات، داشبورد) منفَّذة وتعمل فعليًا فوق Firebase حقيقي — لا بيانات وهمية.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291840" cy="1188720"/>
          </a:xfrm>
          <a:prstGeom prst="roundRect">
            <a:avLst>
              <a:gd name="adj" fmla="val 9231"/>
            </a:avLst>
          </a:prstGeom>
          <a:solidFill>
            <a:srgbClr val="047954">
              <a:alpha val="8000"/>
            </a:srgbClr>
          </a:solidFill>
          <a:ln w="12700">
            <a:solidFill>
              <a:srgbClr val="04795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50" i="1" dirty="0">
                <a:solidFill>
                  <a:srgbClr val="047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"TASK-025: Remove Legacy Local State Logic" — مؤكَّد رسميًا في تدقيق داخلي للمشروع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234440"/>
            <a:ext cx="452628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34840" y="13716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Phases — مراحل الاختبار المنفَّذة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0195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46320" y="1874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Rules Testing عبر Firebase Emulator Suite</a:t>
            </a:r>
            <a:endParaRPr lang="en-US" sz="11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450592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46320" y="24231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يقرأ بروفايله الخاص — Authorized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9923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46320" y="2971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يقرأ بروفايل غيره — مرفوض (Unauthorized)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54787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46320" y="35204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مستخدم غير مسجل دخول يحاول القراءة — مرفوض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409651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46320" y="4069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لكل Task قبل الإغلاق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606040" cy="35661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44168" y="1417320"/>
            <a:ext cx="640080" cy="640080"/>
          </a:xfrm>
          <a:prstGeom prst="ellipse">
            <a:avLst/>
          </a:prstGeom>
          <a:solidFill>
            <a:srgbClr val="047954">
              <a:alpha val="18000"/>
            </a:srgbClr>
          </a:solidFill>
          <a:ln w="12700">
            <a:solidFill>
              <a:srgbClr val="04795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1517904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التقارير والتوثيق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265176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Architecture كاملة</a:t>
            </a:r>
            <a:endParaRPr lang="en-US" sz="14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Schema &amp; Collections</a:t>
            </a:r>
            <a:endParaRPr lang="en-US" sz="14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اختبارات الأمان</a:t>
            </a:r>
            <a:endParaRPr lang="en-US" sz="14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المساهمة (Contributing)</a:t>
            </a:r>
            <a:endParaRPr lang="en-US" sz="14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وثيقة أدوار المستخدمين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00400" y="1234440"/>
            <a:ext cx="2606040" cy="35661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178808" y="1417320"/>
            <a:ext cx="640080" cy="640080"/>
          </a:xfrm>
          <a:prstGeom prst="ellipse">
            <a:avLst/>
          </a:prstGeom>
          <a:solidFill>
            <a:srgbClr val="336EA8">
              <a:alpha val="18000"/>
            </a:srgbClr>
          </a:solidFill>
          <a:ln w="12700">
            <a:solidFill>
              <a:srgbClr val="336EA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51790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للمراحل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383280" y="26517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— Foundation ✓ مكتملة</a:t>
            </a:r>
            <a:endParaRPr lang="en-US" sz="1200" dirty="0"/>
          </a:p>
          <a:p>
            <a:pPr marL="171450" indent="-1714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Core Features (قيد التنفيذ)</a:t>
            </a:r>
            <a:endParaRPr lang="en-US" sz="1200" dirty="0"/>
          </a:p>
          <a:p>
            <a:pPr marL="171450" indent="-171450" algn="l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Advanced Features (مخطط لها)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1234440"/>
            <a:ext cx="2606040" cy="35661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013448" y="1417320"/>
            <a:ext cx="640080" cy="640080"/>
          </a:xfrm>
          <a:prstGeom prst="ellipse">
            <a:avLst/>
          </a:prstGeom>
          <a:solidFill>
            <a:srgbClr val="D7B119">
              <a:alpha val="18000"/>
            </a:srgbClr>
          </a:solidFill>
          <a:ln w="12700">
            <a:solidFill>
              <a:srgbClr val="D7B11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151790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2148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22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النهائية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17920" y="265176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Flutter يعمل فعليًا</a:t>
            </a:r>
            <a:endParaRPr lang="en-US" sz="14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مستودع الكود الكامل على GitHub</a:t>
            </a:r>
            <a:endParaRPr lang="en-US" sz="1400" dirty="0"/>
          </a:p>
          <a:p>
            <a:pPr marL="171450" indent="-171450" algn="r" rtl="1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5B6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Firebase Backend متكامل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777240"/>
          </a:xfrm>
          <a:prstGeom prst="roundRect">
            <a:avLst>
              <a:gd name="adj" fmla="val 16471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1089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+ Roles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6949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 والأدوار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75320" y="420624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75320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48326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3553" y="1281737"/>
            <a:ext cx="1531304" cy="20025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164" y="1514357"/>
            <a:ext cx="731520" cy="731520"/>
          </a:xfrm>
          <a:prstGeom prst="ellipse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180" y="1642373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5176" y="23180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Abdulrhman </a:t>
            </a:r>
            <a:r>
              <a:rPr lang="en-US" sz="1150" b="1" dirty="0" err="1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Badwy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02336" y="275920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047954">
              <a:alpha val="15000"/>
            </a:srgbClr>
          </a:solidFill>
          <a:ln w="12700">
            <a:solidFill>
              <a:srgbClr val="04795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02336" y="271695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002536" y="1271016"/>
            <a:ext cx="1560471" cy="20025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36560" y="1517904"/>
            <a:ext cx="731520" cy="731520"/>
          </a:xfrm>
          <a:prstGeom prst="ellipse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072" y="1641348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33640" y="22997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Amr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2056296" y="273705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336EA8">
              <a:alpha val="15000"/>
            </a:srgbClr>
          </a:solidFill>
          <a:ln w="12700">
            <a:solidFill>
              <a:srgbClr val="336EA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047073" y="271695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662330" y="1271016"/>
            <a:ext cx="1560471" cy="20025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4061039" y="1549908"/>
            <a:ext cx="731520" cy="731520"/>
          </a:xfrm>
          <a:prstGeom prst="ellipse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055" y="1677924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21338" y="234748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Ahmed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706316" y="2749822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D7B119">
              <a:alpha val="15000"/>
            </a:srgbClr>
          </a:solidFill>
          <a:ln w="12700">
            <a:solidFill>
              <a:srgbClr val="D7B11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3758498" y="275510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317706" y="1280160"/>
            <a:ext cx="1531304" cy="2004113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768955" y="1549908"/>
            <a:ext cx="731520" cy="731520"/>
          </a:xfrm>
          <a:prstGeom prst="ellipse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971" y="1677924"/>
            <a:ext cx="475488" cy="4754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58698" y="236285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Abdulrhman Mohamed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317706" y="2758336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0FAB7D">
              <a:alpha val="15000"/>
            </a:srgbClr>
          </a:solidFill>
          <a:ln w="12700">
            <a:solidFill>
              <a:srgbClr val="0FAB7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316443" y="274257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11480" y="3611880"/>
            <a:ext cx="8321040" cy="1188720"/>
          </a:xfrm>
          <a:prstGeom prst="roundRect">
            <a:avLst>
              <a:gd name="adj" fmla="val 12308"/>
            </a:avLst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594360" y="3703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b="1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منهجية التعاون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563B7E-0D23-9ADD-6E6F-53D37E752BAF}"/>
              </a:ext>
            </a:extLst>
          </p:cNvPr>
          <p:cNvSpPr txBox="1"/>
          <p:nvPr/>
        </p:nvSpPr>
        <p:spPr>
          <a:xfrm>
            <a:off x="502920" y="3863340"/>
            <a:ext cx="7364730" cy="703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&amp; GitHub Standards  ◆  Phase-Based Development (Phase 0 → Phase 1 → Phase 2)  ◆  Definition of Done (DoD)  ◆  Communication (Discord • WhatsApp )</a:t>
            </a: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E4454499-5FC9-A1E9-23FF-1CD128265640}"/>
              </a:ext>
            </a:extLst>
          </p:cNvPr>
          <p:cNvSpPr/>
          <p:nvPr/>
        </p:nvSpPr>
        <p:spPr>
          <a:xfrm>
            <a:off x="6932962" y="1271016"/>
            <a:ext cx="1560471" cy="200253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A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DEF34434-3AD5-5EC9-2871-525DE8D79B55}"/>
              </a:ext>
            </a:extLst>
          </p:cNvPr>
          <p:cNvSpPr/>
          <p:nvPr/>
        </p:nvSpPr>
        <p:spPr>
          <a:xfrm>
            <a:off x="7366986" y="1568543"/>
            <a:ext cx="731520" cy="7315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1" name="Image 1" descr="preencoded.png">
            <a:extLst>
              <a:ext uri="{FF2B5EF4-FFF2-40B4-BE49-F238E27FC236}">
                <a16:creationId xmlns:a16="http://schemas.microsoft.com/office/drawing/2014/main" id="{5D8C82BD-C373-9507-6452-9BDD6D711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498" y="1691987"/>
            <a:ext cx="475488" cy="475488"/>
          </a:xfrm>
          <a:prstGeom prst="rect">
            <a:avLst/>
          </a:prstGeom>
        </p:spPr>
      </p:pic>
      <p:sp>
        <p:nvSpPr>
          <p:cNvPr id="42" name="Shape 14">
            <a:extLst>
              <a:ext uri="{FF2B5EF4-FFF2-40B4-BE49-F238E27FC236}">
                <a16:creationId xmlns:a16="http://schemas.microsoft.com/office/drawing/2014/main" id="{0F5B4232-CB7F-C2D4-DB30-31A5D33D8DF6}"/>
              </a:ext>
            </a:extLst>
          </p:cNvPr>
          <p:cNvSpPr/>
          <p:nvPr/>
        </p:nvSpPr>
        <p:spPr>
          <a:xfrm>
            <a:off x="6986722" y="273705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accent2">
              <a:lumMod val="40000"/>
              <a:lumOff val="60000"/>
              <a:alpha val="15000"/>
            </a:schemeClr>
          </a:solidFill>
          <a:ln w="12700">
            <a:solidFill>
              <a:srgbClr val="336EA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38A0B175-4B25-6BE8-805C-83A0FFAC2B14}"/>
              </a:ext>
            </a:extLst>
          </p:cNvPr>
          <p:cNvSpPr/>
          <p:nvPr/>
        </p:nvSpPr>
        <p:spPr>
          <a:xfrm>
            <a:off x="6977499" y="271695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950" dirty="0"/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4BF091C1-7881-7C1F-0C2E-056581BBF364}"/>
              </a:ext>
            </a:extLst>
          </p:cNvPr>
          <p:cNvSpPr/>
          <p:nvPr/>
        </p:nvSpPr>
        <p:spPr>
          <a:xfrm>
            <a:off x="6821738" y="2320757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Ibraam</a:t>
            </a:r>
            <a:r>
              <a:rPr lang="en-US" sz="1150" b="1" dirty="0">
                <a:solidFill>
                  <a:srgbClr val="12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Isaac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7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0FAB7D">
              <a:alpha val="20000"/>
            </a:srgbClr>
          </a:solidFill>
          <a:ln w="12700">
            <a:solidFill>
              <a:srgbClr val="0FAB7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743200" cy="2743200"/>
          </a:xfrm>
          <a:prstGeom prst="ellipse">
            <a:avLst/>
          </a:prstGeom>
          <a:solidFill>
            <a:srgbClr val="0FAB7D">
              <a:alpha val="20000"/>
            </a:srgbClr>
          </a:solidFill>
          <a:ln w="12700">
            <a:solidFill>
              <a:srgbClr val="0FAB7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D7B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 لاستماعكم — نرحب بأسئلتكم وملاحظاتكم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39" y="2926080"/>
            <a:ext cx="575310" cy="5753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834" y="3493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hlinkClick r:id="rId4"/>
              </a:rPr>
              <a:t>Studex_app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047" y="2926080"/>
            <a:ext cx="575310" cy="5753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41142" y="3493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hlinkClick r:id="rId6"/>
              </a:rPr>
              <a:t>AbdulrhmanBadwy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2917698"/>
            <a:ext cx="575310" cy="5753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54015" y="350139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AbdulrhmanBadwy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 ·  2 JUL 2026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589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Studex – DEPI Graduation Project</dc:title>
  <dc:subject>PptxGenJS Presentation</dc:subject>
  <dc:creator>Studex Team</dc:creator>
  <cp:lastModifiedBy>20912023100293@fci.zu.edu.eg</cp:lastModifiedBy>
  <cp:revision>4</cp:revision>
  <dcterms:created xsi:type="dcterms:W3CDTF">2026-06-30T16:52:41Z</dcterms:created>
  <dcterms:modified xsi:type="dcterms:W3CDTF">2026-07-01T19:35:32Z</dcterms:modified>
</cp:coreProperties>
</file>